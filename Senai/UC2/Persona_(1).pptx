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  <p:sldMasterId id="2147483659" r:id="rId2"/>
  </p:sldMasterIdLst>
  <p:notesMasterIdLst>
    <p:notesMasterId r:id="rId1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ExtraBold" panose="00000900000000000000" pitchFamily="2" charset="77"/>
      <p:bold r:id="rId17"/>
      <p:italic r:id="rId18"/>
      <p:boldItalic r:id="rId19"/>
    </p:embeddedFont>
    <p:embeddedFont>
      <p:font typeface="Montserrat Light" panose="00000400000000000000" pitchFamily="2" charset="77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3" d="100"/>
          <a:sy n="73" d="100"/>
        </p:scale>
        <p:origin x="816" y="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beiro de Lacerda" userId="dbf77e94-5f9a-4c2d-b76c-023e6aa1600e" providerId="ADAL" clId="{474BCD3E-83F6-5B28-84CB-4A809E37AC63}"/>
    <pc:docChg chg="custSel modSld">
      <pc:chgData name="Lucas Ribeiro de Lacerda" userId="dbf77e94-5f9a-4c2d-b76c-023e6aa1600e" providerId="ADAL" clId="{474BCD3E-83F6-5B28-84CB-4A809E37AC63}" dt="2026-05-22T20:42:08.121" v="2" actId="1076"/>
      <pc:docMkLst>
        <pc:docMk/>
      </pc:docMkLst>
      <pc:sldChg chg="delSp modSp mod">
        <pc:chgData name="Lucas Ribeiro de Lacerda" userId="dbf77e94-5f9a-4c2d-b76c-023e6aa1600e" providerId="ADAL" clId="{474BCD3E-83F6-5B28-84CB-4A809E37AC63}" dt="2026-05-22T20:42:08.121" v="2" actId="1076"/>
        <pc:sldMkLst>
          <pc:docMk/>
          <pc:sldMk cId="0" sldId="265"/>
        </pc:sldMkLst>
        <pc:spChg chg="mod">
          <ac:chgData name="Lucas Ribeiro de Lacerda" userId="dbf77e94-5f9a-4c2d-b76c-023e6aa1600e" providerId="ADAL" clId="{474BCD3E-83F6-5B28-84CB-4A809E37AC63}" dt="2026-05-22T20:42:07.466" v="1" actId="14100"/>
          <ac:spMkLst>
            <pc:docMk/>
            <pc:sldMk cId="0" sldId="265"/>
            <ac:spMk id="597" creationId="{00000000-0000-0000-0000-000000000000}"/>
          </ac:spMkLst>
        </pc:spChg>
        <pc:spChg chg="del">
          <ac:chgData name="Lucas Ribeiro de Lacerda" userId="dbf77e94-5f9a-4c2d-b76c-023e6aa1600e" providerId="ADAL" clId="{474BCD3E-83F6-5B28-84CB-4A809E37AC63}" dt="2026-05-22T20:42:04.150" v="0" actId="478"/>
          <ac:spMkLst>
            <pc:docMk/>
            <pc:sldMk cId="0" sldId="265"/>
            <ac:spMk id="601" creationId="{00000000-0000-0000-0000-000000000000}"/>
          </ac:spMkLst>
        </pc:spChg>
        <pc:grpChg chg="mod">
          <ac:chgData name="Lucas Ribeiro de Lacerda" userId="dbf77e94-5f9a-4c2d-b76c-023e6aa1600e" providerId="ADAL" clId="{474BCD3E-83F6-5B28-84CB-4A809E37AC63}" dt="2026-05-22T20:42:08.121" v="2" actId="1076"/>
          <ac:grpSpMkLst>
            <pc:docMk/>
            <pc:sldMk cId="0" sldId="265"/>
            <ac:grpSpMk id="592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3d95c9e1c_0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1e3d95c9e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47b542eee_0_10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2d47b542ee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47b542eee_0_17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d47b542ee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d47b542eee_0_19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d47b542ee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d47b542eee_0_27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2d47b542eee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47b542eee_0_40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d47b542eee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d47b542eee_0_47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2d47b542eee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d47b542eee_0_58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g2d47b542eee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 extrusionOk="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 extrusionOk="0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 extrusionOk="0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 extrusionOk="0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 extrusionOk="0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 extrusionOk="0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 extrusionOk="0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 extrusionOk="0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 extrusionOk="0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 extrusionOk="0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 extrusionOk="0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 extrusionOk="0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 extrusionOk="0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 extrusionOk="0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 extrusionOk="0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 extrusionOk="0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 extrusionOk="0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1057130"/>
            <a:ext cx="3245974" cy="272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4303094"/>
            <a:ext cx="3245974" cy="272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7549068"/>
            <a:ext cx="3245974" cy="272243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300" cy="5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 extrusionOk="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 extrusionOk="0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1047076" y="9439611"/>
            <a:ext cx="3693160" cy="700404"/>
          </a:xfrm>
          <a:custGeom>
            <a:avLst/>
            <a:gdLst/>
            <a:ahLst/>
            <a:cxnLst/>
            <a:rect l="l" t="t" r="r" b="b"/>
            <a:pathLst>
              <a:path w="3693160" h="700404" extrusionOk="0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 extrusionOk="0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 extrusionOk="0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 extrusionOk="0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 extrusionOk="0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 extrusionOk="0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 extrusionOk="0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 extrusionOk="0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 extrusionOk="0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 extrusionOk="0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 extrusionOk="0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 extrusionOk="0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 extrusionOk="0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 extrusionOk="0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 extrusionOk="0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1057130"/>
            <a:ext cx="3245974" cy="272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4303094"/>
            <a:ext cx="3245974" cy="272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7549068"/>
            <a:ext cx="3245974" cy="272243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3000" cy="28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300" cy="5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sp.senai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3"/>
          <p:cNvGrpSpPr/>
          <p:nvPr/>
        </p:nvGrpSpPr>
        <p:grpSpPr>
          <a:xfrm>
            <a:off x="0" y="0"/>
            <a:ext cx="20104100" cy="11308971"/>
            <a:chOff x="0" y="0"/>
            <a:chExt cx="20104100" cy="11308971"/>
          </a:xfrm>
        </p:grpSpPr>
        <p:pic>
          <p:nvPicPr>
            <p:cNvPr id="94" name="Google Shape;94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20104099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3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 extrusionOk="0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806069" y="5037842"/>
              <a:ext cx="6492240" cy="1230629"/>
            </a:xfrm>
            <a:custGeom>
              <a:avLst/>
              <a:gdLst/>
              <a:ahLst/>
              <a:cxnLst/>
              <a:rect l="l" t="t" r="r" b="b"/>
              <a:pathLst>
                <a:path w="6492240" h="1230629" extrusionOk="0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 extrusionOk="0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 extrusionOk="0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 extrusionOk="0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 extrusionOk="0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 extrusionOk="0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 extrusionOk="0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 extrusionOk="0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 extrusionOk="0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 extrusionOk="0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 extrusionOk="0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 extrusionOk="0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 extrusionOk="0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 extrusionOk="0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 extrusionOk="0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3"/>
          <p:cNvSpPr txBox="1"/>
          <p:nvPr/>
        </p:nvSpPr>
        <p:spPr>
          <a:xfrm>
            <a:off x="15456100" y="272250"/>
            <a:ext cx="4272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POR Lucas Ribeiro de Lacerda</a:t>
            </a:r>
            <a:endParaRPr sz="1500" b="1"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 txBox="1">
            <a:spLocks noGrp="1"/>
          </p:cNvSpPr>
          <p:nvPr>
            <p:ph type="title"/>
          </p:nvPr>
        </p:nvSpPr>
        <p:spPr>
          <a:xfrm>
            <a:off x="1601075" y="4096350"/>
            <a:ext cx="13092000" cy="15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1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PROTO-PERSONAS</a:t>
            </a:r>
            <a:endParaRPr sz="8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4" name="Google Shape;244;p15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245" name="Google Shape;245;p15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0" y="7873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6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253" name="Google Shape;253;p16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735700" y="7609550"/>
            <a:ext cx="8528100" cy="3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PÚBLICO-ALVO:</a:t>
            </a:r>
            <a:endParaRPr sz="2600" b="1">
              <a:solidFill>
                <a:srgbClr val="3333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 público-alvo é uma segmentação mais ampla do mercado. Ele representa um grupo geral de pessoas que compartilham características </a:t>
            </a:r>
            <a:r>
              <a:rPr lang="pt-BR" sz="2300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demográficas, geográficas ou psicográficas semelhantes.</a:t>
            </a:r>
            <a:r>
              <a:rPr lang="pt-BR" sz="2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O público-alvo é definido com base em critérios como idade, gênero, localização geográfica, renda, comportamentos de compra, entre outros.</a:t>
            </a:r>
            <a:endParaRPr sz="3300" b="1">
              <a:solidFill>
                <a:srgbClr val="3333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10209875" y="7583000"/>
            <a:ext cx="96444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900" b="1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PROTO - PERSONA:</a:t>
            </a:r>
            <a:endParaRPr sz="2900" b="1">
              <a:solidFill>
                <a:srgbClr val="3333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persona, por outro lado, é uma </a:t>
            </a:r>
            <a:r>
              <a:rPr lang="pt-BR" sz="2300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representação fictícia e detalhada de um cliente ideal dentro do público-alvo</a:t>
            </a:r>
            <a:r>
              <a:rPr lang="pt-BR" sz="2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Ela é criada com base em pesquisas e informações reais sobre os clientes, e vai além das características demográficas básicas. A persona é uma construção mais humanizada, que inclui detalhes como nome, idade, ocupação, objetivos, desafios, valores, motivações, comportamentos e preferências específicas</a:t>
            </a:r>
            <a:r>
              <a:rPr lang="pt-BR" sz="2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3300" b="1">
              <a:solidFill>
                <a:srgbClr val="3333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9" name="Google Shape;259;p16"/>
          <p:cNvSpPr txBox="1">
            <a:spLocks noGrp="1"/>
          </p:cNvSpPr>
          <p:nvPr>
            <p:ph type="title"/>
          </p:nvPr>
        </p:nvSpPr>
        <p:spPr>
          <a:xfrm>
            <a:off x="1222775" y="894700"/>
            <a:ext cx="143169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150" b="1">
                <a:latin typeface="Montserrat"/>
                <a:ea typeface="Montserrat"/>
                <a:cs typeface="Montserrat"/>
                <a:sym typeface="Montserrat"/>
              </a:rPr>
              <a:t>PÚBLICO-ALVO X PROTO-PERSONA</a:t>
            </a:r>
            <a:endParaRPr sz="525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875" y="3081650"/>
            <a:ext cx="4023875" cy="40238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1" name="Google Shape;261;p16"/>
          <p:cNvSpPr/>
          <p:nvPr/>
        </p:nvSpPr>
        <p:spPr>
          <a:xfrm>
            <a:off x="1599932" y="5356841"/>
            <a:ext cx="0" cy="1570990"/>
          </a:xfrm>
          <a:custGeom>
            <a:avLst/>
            <a:gdLst/>
            <a:ahLst/>
            <a:cxnLst/>
            <a:rect l="l" t="t" r="r" b="b"/>
            <a:pathLst>
              <a:path w="120000" h="1570990" extrusionOk="0">
                <a:moveTo>
                  <a:pt x="0" y="0"/>
                </a:moveTo>
                <a:lnTo>
                  <a:pt x="0" y="1570632"/>
                </a:lnTo>
              </a:path>
            </a:pathLst>
          </a:custGeom>
          <a:noFill/>
          <a:ln w="314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6"/>
          <p:cNvPicPr preferRelativeResize="0"/>
          <p:nvPr/>
        </p:nvPicPr>
        <p:blipFill rotWithShape="1">
          <a:blip r:embed="rId4">
            <a:alphaModFix/>
          </a:blip>
          <a:srcRect l="34736" t="2816" r="7282" b="3304"/>
          <a:stretch/>
        </p:blipFill>
        <p:spPr>
          <a:xfrm>
            <a:off x="12256550" y="3019175"/>
            <a:ext cx="4023875" cy="3985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3" name="Google Shape;263;p16"/>
          <p:cNvSpPr/>
          <p:nvPr/>
        </p:nvSpPr>
        <p:spPr>
          <a:xfrm>
            <a:off x="10953232" y="5356841"/>
            <a:ext cx="0" cy="1570990"/>
          </a:xfrm>
          <a:custGeom>
            <a:avLst/>
            <a:gdLst/>
            <a:ahLst/>
            <a:cxnLst/>
            <a:rect l="l" t="t" r="r" b="b"/>
            <a:pathLst>
              <a:path w="120000" h="1570990" extrusionOk="0">
                <a:moveTo>
                  <a:pt x="0" y="0"/>
                </a:moveTo>
                <a:lnTo>
                  <a:pt x="0" y="1570632"/>
                </a:lnTo>
              </a:path>
            </a:pathLst>
          </a:custGeom>
          <a:noFill/>
          <a:ln w="314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4" name="Google Shape;334;p17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335" name="Google Shape;335;p17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17"/>
          <p:cNvSpPr txBox="1">
            <a:spLocks noGrp="1"/>
          </p:cNvSpPr>
          <p:nvPr>
            <p:ph type="title"/>
          </p:nvPr>
        </p:nvSpPr>
        <p:spPr>
          <a:xfrm>
            <a:off x="1403351" y="1296900"/>
            <a:ext cx="112722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200" b="1">
                <a:latin typeface="Montserrat ExtraBold"/>
                <a:ea typeface="Montserrat ExtraBold"/>
                <a:cs typeface="Montserrat ExtraBold"/>
                <a:sym typeface="Montserrat ExtraBold"/>
              </a:rPr>
              <a:t>PROTO-PERSONA</a:t>
            </a:r>
            <a:endParaRPr sz="6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1047125" y="2842925"/>
            <a:ext cx="10421100" cy="7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500"/>
              </a:spcAft>
              <a:buNone/>
            </a:pPr>
            <a:r>
              <a:rPr lang="pt-BR" sz="3850">
                <a:solidFill>
                  <a:srgbClr val="4D4D4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Uma persona vai além de simples dados demográficos, como idade e sexo. </a:t>
            </a:r>
            <a:r>
              <a:rPr lang="pt-BR" sz="3850" b="1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Ela envolve a criação de uma história e personalidade fictícias para representar um grupo de clientes com características semelhantes. </a:t>
            </a:r>
            <a:r>
              <a:rPr lang="pt-BR" sz="3850">
                <a:solidFill>
                  <a:srgbClr val="4D4D4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persona é construída a partir de pesquisas de mercado, análise de dados e informações sobre os clientes reais da empresa</a:t>
            </a:r>
            <a:r>
              <a:rPr lang="pt-BR" sz="1000">
                <a:solidFill>
                  <a:srgbClr val="374151"/>
                </a:solidFill>
                <a:highlight>
                  <a:srgbClr val="F7F7F8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5150" i="1">
              <a:solidFill>
                <a:srgbClr val="33333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39" name="Google Shape;3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7038" y="2668363"/>
            <a:ext cx="7502350" cy="7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/>
          <p:nvPr/>
        </p:nvSpPr>
        <p:spPr>
          <a:xfrm>
            <a:off x="8690850" y="0"/>
            <a:ext cx="11403274" cy="11151870"/>
          </a:xfrm>
          <a:custGeom>
            <a:avLst/>
            <a:gdLst/>
            <a:ahLst/>
            <a:cxnLst/>
            <a:rect l="l" t="t" r="r" b="b"/>
            <a:pathLst>
              <a:path w="7539355" h="11151870" extrusionOk="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0" y="1047088"/>
            <a:ext cx="6282690" cy="9214485"/>
          </a:xfrm>
          <a:custGeom>
            <a:avLst/>
            <a:gdLst/>
            <a:ahLst/>
            <a:cxnLst/>
            <a:rect l="l" t="t" r="r" b="b"/>
            <a:pathLst>
              <a:path w="6282690" h="9214485" extrusionOk="0">
                <a:moveTo>
                  <a:pt x="6282531" y="0"/>
                </a:moveTo>
                <a:lnTo>
                  <a:pt x="0" y="0"/>
                </a:lnTo>
                <a:lnTo>
                  <a:pt x="0" y="9214379"/>
                </a:lnTo>
                <a:lnTo>
                  <a:pt x="6282531" y="9214379"/>
                </a:lnTo>
                <a:lnTo>
                  <a:pt x="6282531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596657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85843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7120201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7381974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7643746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7905518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816729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8429063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6596657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685843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7120201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7381974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643746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905518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816729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8429063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596657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85843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120201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7381974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7643746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7905518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816729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8429063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596657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85843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7120201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7381974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7643746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7905518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816729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8429063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6596657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685843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7120201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7381974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7643746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7905518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816729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8429063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6596657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685843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7120201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7381974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7643746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7905518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816729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8429063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6596657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685843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7120201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7381974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7643746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7905518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816729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8429063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18"/>
          <p:cNvGrpSpPr/>
          <p:nvPr/>
        </p:nvGrpSpPr>
        <p:grpSpPr>
          <a:xfrm>
            <a:off x="261768" y="1308899"/>
            <a:ext cx="7771522" cy="9214892"/>
            <a:chOff x="261772" y="1308860"/>
            <a:chExt cx="10366176" cy="8690835"/>
          </a:xfrm>
        </p:grpSpPr>
        <p:pic>
          <p:nvPicPr>
            <p:cNvPr id="404" name="Google Shape;404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1772" y="1308860"/>
              <a:ext cx="10366176" cy="869083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405" name="Google Shape;405;p18"/>
            <p:cNvSpPr/>
            <p:nvPr/>
          </p:nvSpPr>
          <p:spPr>
            <a:xfrm>
              <a:off x="1047097" y="2094169"/>
              <a:ext cx="9213831" cy="7120255"/>
            </a:xfrm>
            <a:custGeom>
              <a:avLst/>
              <a:gdLst/>
              <a:ahLst/>
              <a:cxnLst/>
              <a:rect l="l" t="t" r="r" b="b"/>
              <a:pathLst>
                <a:path w="8796020" h="7120255" extrusionOk="0">
                  <a:moveTo>
                    <a:pt x="8795543" y="0"/>
                  </a:moveTo>
                  <a:lnTo>
                    <a:pt x="0" y="0"/>
                  </a:lnTo>
                  <a:lnTo>
                    <a:pt x="0" y="7120202"/>
                  </a:lnTo>
                  <a:lnTo>
                    <a:pt x="8795543" y="7120202"/>
                  </a:lnTo>
                  <a:lnTo>
                    <a:pt x="8795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8"/>
          <p:cNvSpPr txBox="1"/>
          <p:nvPr/>
        </p:nvSpPr>
        <p:spPr>
          <a:xfrm>
            <a:off x="8952625" y="529025"/>
            <a:ext cx="10964400" cy="10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Maria Santos é uma arquiteta autônoma de 35 anos, que mora em Belo Horizonte, Brasil. Ela está enfrentando o desafio de reformar sua casa para criar um ambiente moderno e funcional. Maria procura por materiais de construção de alta qualidade que atendam às necessidades estéticas e técnicas do seu projeto. Além disso, ela valoriza a sustentabilidade e busca soluções econômicas e ecologicamente responsáveis.</a:t>
            </a:r>
            <a:endParaRPr sz="26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Como arquiteta, Maria está sempre interessada em design de interiores, tendências de decoração e materiais inovadores. Ela gosta de pesquisar em revistas e blogs de arquitetura e decoração, e segue influenciadores e profissionais do setor nas redes sociais. Maria é ativa em grupos online de arquitetura e decoração, onde troca ideias e obtém recomendações de produtos e fornecedores.</a:t>
            </a:r>
            <a:endParaRPr sz="26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processo de compra, Maria é bastante criteriosa. Ela faz pesquisas detalhadas, lendo avaliações e comparando preços para garantir a melhor escolha. Valoriza a expertise técnica e a disponibilidade de consultoria por parte dos vendedores. Ela está disposta a investir em materiais de construção de qualidade e sustentáveis para garantir um resultado duradouro e ecologicamente responsável.</a:t>
            </a:r>
            <a:endParaRPr sz="2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07" name="Google Shape;4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2696" y="2488249"/>
            <a:ext cx="4569682" cy="685620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8"/>
          <p:cNvSpPr txBox="1"/>
          <p:nvPr/>
        </p:nvSpPr>
        <p:spPr>
          <a:xfrm>
            <a:off x="971825" y="1159575"/>
            <a:ext cx="68841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7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EXEMPLO DE PERSONA </a:t>
            </a:r>
            <a:endParaRPr sz="330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PARA</a:t>
            </a:r>
            <a:r>
              <a:rPr lang="pt-BR" sz="3300" b="1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LOJA DE CONSTRUÇÃO</a:t>
            </a:r>
            <a:endParaRPr sz="3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/>
          <p:nvPr/>
        </p:nvSpPr>
        <p:spPr>
          <a:xfrm>
            <a:off x="8690850" y="0"/>
            <a:ext cx="11403274" cy="11151870"/>
          </a:xfrm>
          <a:custGeom>
            <a:avLst/>
            <a:gdLst/>
            <a:ahLst/>
            <a:cxnLst/>
            <a:rect l="l" t="t" r="r" b="b"/>
            <a:pathLst>
              <a:path w="7539355" h="11151870" extrusionOk="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0" y="1047088"/>
            <a:ext cx="6282690" cy="9214485"/>
          </a:xfrm>
          <a:custGeom>
            <a:avLst/>
            <a:gdLst/>
            <a:ahLst/>
            <a:cxnLst/>
            <a:rect l="l" t="t" r="r" b="b"/>
            <a:pathLst>
              <a:path w="6282690" h="9214485" extrusionOk="0">
                <a:moveTo>
                  <a:pt x="6282531" y="0"/>
                </a:moveTo>
                <a:lnTo>
                  <a:pt x="0" y="0"/>
                </a:lnTo>
                <a:lnTo>
                  <a:pt x="0" y="9214379"/>
                </a:lnTo>
                <a:lnTo>
                  <a:pt x="6282531" y="9214379"/>
                </a:lnTo>
                <a:lnTo>
                  <a:pt x="6282531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6596657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685843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7120201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7381974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7643746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7905518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816729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8429063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6596657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685843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120201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7381974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7643746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7905518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816729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8429063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6596657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685843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7120201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7381974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7643746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7905518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816729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8429063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596657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685843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120201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7381974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7643746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7905518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816729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8429063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6596657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685843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7120201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7381974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7643746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7905518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816729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8429063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6596657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85843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7120201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7381974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7643746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7905518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816729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8429063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6596657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685843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7120201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7381974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7643746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7905518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816729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8429063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2" name="Google Shape;472;p19"/>
          <p:cNvGrpSpPr/>
          <p:nvPr/>
        </p:nvGrpSpPr>
        <p:grpSpPr>
          <a:xfrm>
            <a:off x="261768" y="1308899"/>
            <a:ext cx="7771522" cy="9214892"/>
            <a:chOff x="261772" y="1308860"/>
            <a:chExt cx="10366176" cy="8690835"/>
          </a:xfrm>
        </p:grpSpPr>
        <p:pic>
          <p:nvPicPr>
            <p:cNvPr id="473" name="Google Shape;473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1772" y="1308860"/>
              <a:ext cx="10366176" cy="869083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474" name="Google Shape;474;p19"/>
            <p:cNvSpPr/>
            <p:nvPr/>
          </p:nvSpPr>
          <p:spPr>
            <a:xfrm>
              <a:off x="1047097" y="2094169"/>
              <a:ext cx="9213831" cy="7120255"/>
            </a:xfrm>
            <a:custGeom>
              <a:avLst/>
              <a:gdLst/>
              <a:ahLst/>
              <a:cxnLst/>
              <a:rect l="l" t="t" r="r" b="b"/>
              <a:pathLst>
                <a:path w="8796020" h="7120255" extrusionOk="0">
                  <a:moveTo>
                    <a:pt x="8795543" y="0"/>
                  </a:moveTo>
                  <a:lnTo>
                    <a:pt x="0" y="0"/>
                  </a:lnTo>
                  <a:lnTo>
                    <a:pt x="0" y="7120202"/>
                  </a:lnTo>
                  <a:lnTo>
                    <a:pt x="8795543" y="7120202"/>
                  </a:lnTo>
                  <a:lnTo>
                    <a:pt x="8795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5" name="Google Shape;475;p19"/>
          <p:cNvSpPr txBox="1"/>
          <p:nvPr/>
        </p:nvSpPr>
        <p:spPr>
          <a:xfrm>
            <a:off x="971825" y="1159575"/>
            <a:ext cx="68841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7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EXEMPLO DE PERSONA </a:t>
            </a:r>
            <a:endParaRPr sz="330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PARA</a:t>
            </a:r>
            <a:r>
              <a:rPr lang="pt-BR" sz="3300" b="1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LOJA DE CONSTRUÇÃO</a:t>
            </a:r>
            <a:endParaRPr sz="3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9129100" y="262125"/>
            <a:ext cx="10782900" cy="101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Pedro e Ana são um jovem casal de 28 anos, formados em direito. Eles acabaram de comprar um apartamento em um novo empreendimento e estão animados para personalizá-lo. </a:t>
            </a:r>
            <a:endParaRPr sz="30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Pedro e sua esposa, possuem um estilo de vida moderno e valorizam a sustentabilidade. Eles buscam soluções criativas e personalizadas para cada ambiente da casa, combinando design com funcionalidade, desejam criar um lar aconchegante e personalizado, com um toque pessoal em cada ambiente, porém eles possuem um orçamento limitado, falta de experiência em reformas, dificuldade em encontrar produtos que combinem com o estilo desejado.</a:t>
            </a:r>
            <a:endParaRPr sz="30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Costumam pesquisar muito em redes sociais, blogs e revistas de decoração. Gostam de acompanhar influenciadores digitais e participar de comunidades online de decoração. Valorizam a opinião de amigos e familiares</a:t>
            </a:r>
            <a:r>
              <a:rPr lang="pt-BR" sz="3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32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77" name="Google Shape;47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899" y="3578423"/>
            <a:ext cx="6373775" cy="4780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"/>
          <p:cNvSpPr/>
          <p:nvPr/>
        </p:nvSpPr>
        <p:spPr>
          <a:xfrm>
            <a:off x="8690850" y="0"/>
            <a:ext cx="11403274" cy="11151870"/>
          </a:xfrm>
          <a:custGeom>
            <a:avLst/>
            <a:gdLst/>
            <a:ahLst/>
            <a:cxnLst/>
            <a:rect l="l" t="t" r="r" b="b"/>
            <a:pathLst>
              <a:path w="7539355" h="11151870" extrusionOk="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0" y="1047088"/>
            <a:ext cx="6282690" cy="9214485"/>
          </a:xfrm>
          <a:custGeom>
            <a:avLst/>
            <a:gdLst/>
            <a:ahLst/>
            <a:cxnLst/>
            <a:rect l="l" t="t" r="r" b="b"/>
            <a:pathLst>
              <a:path w="6282690" h="9214485" extrusionOk="0">
                <a:moveTo>
                  <a:pt x="6282531" y="0"/>
                </a:moveTo>
                <a:lnTo>
                  <a:pt x="0" y="0"/>
                </a:lnTo>
                <a:lnTo>
                  <a:pt x="0" y="9214379"/>
                </a:lnTo>
                <a:lnTo>
                  <a:pt x="6282531" y="9214379"/>
                </a:lnTo>
                <a:lnTo>
                  <a:pt x="6282531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6596657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685843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7120201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7381974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7643746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7905518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8167290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8429063" y="209417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6596657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685843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7120201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7381974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7643746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7905518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8167290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8429063" y="471189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596657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685843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7120201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7381974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7643746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7905518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8167290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8429063" y="732961"/>
            <a:ext cx="52704" cy="52704"/>
          </a:xfrm>
          <a:custGeom>
            <a:avLst/>
            <a:gdLst/>
            <a:ahLst/>
            <a:cxnLst/>
            <a:rect l="l" t="t" r="r" b="b"/>
            <a:pathLst>
              <a:path w="52704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6596657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685843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7120201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7381974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7643746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7905518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8167290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8429063" y="994734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6596657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685843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7120201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7381974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7643746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7905518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8167290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8429063" y="1256506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6596657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685843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7120201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7381974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7643746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7905518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8167290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8429063" y="1518278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6596657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685843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7120201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7381974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7643746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7905518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8167290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8429063" y="1780050"/>
            <a:ext cx="52704" cy="52705"/>
          </a:xfrm>
          <a:custGeom>
            <a:avLst/>
            <a:gdLst/>
            <a:ahLst/>
            <a:cxnLst/>
            <a:rect l="l" t="t" r="r" b="b"/>
            <a:pathLst>
              <a:path w="52704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1" name="Google Shape;541;p20"/>
          <p:cNvGrpSpPr/>
          <p:nvPr/>
        </p:nvGrpSpPr>
        <p:grpSpPr>
          <a:xfrm>
            <a:off x="261768" y="1308899"/>
            <a:ext cx="7771522" cy="9214892"/>
            <a:chOff x="261772" y="1308860"/>
            <a:chExt cx="10366176" cy="8690835"/>
          </a:xfrm>
        </p:grpSpPr>
        <p:pic>
          <p:nvPicPr>
            <p:cNvPr id="542" name="Google Shape;54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1772" y="1308860"/>
              <a:ext cx="10366176" cy="869083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543" name="Google Shape;543;p20"/>
            <p:cNvSpPr/>
            <p:nvPr/>
          </p:nvSpPr>
          <p:spPr>
            <a:xfrm>
              <a:off x="1047097" y="2094169"/>
              <a:ext cx="9213831" cy="7120255"/>
            </a:xfrm>
            <a:custGeom>
              <a:avLst/>
              <a:gdLst/>
              <a:ahLst/>
              <a:cxnLst/>
              <a:rect l="l" t="t" r="r" b="b"/>
              <a:pathLst>
                <a:path w="8796020" h="7120255" extrusionOk="0">
                  <a:moveTo>
                    <a:pt x="8795543" y="0"/>
                  </a:moveTo>
                  <a:lnTo>
                    <a:pt x="0" y="0"/>
                  </a:lnTo>
                  <a:lnTo>
                    <a:pt x="0" y="7120202"/>
                  </a:lnTo>
                  <a:lnTo>
                    <a:pt x="8795543" y="7120202"/>
                  </a:lnTo>
                  <a:lnTo>
                    <a:pt x="8795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20"/>
          <p:cNvSpPr txBox="1"/>
          <p:nvPr/>
        </p:nvSpPr>
        <p:spPr>
          <a:xfrm>
            <a:off x="971825" y="1159575"/>
            <a:ext cx="68841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7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EXEMPLO DE PERSONA </a:t>
            </a:r>
            <a:endParaRPr sz="330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PARA</a:t>
            </a:r>
            <a:r>
              <a:rPr lang="pt-BR" sz="3300" b="1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LOJA DE CONSTRUÇÃO</a:t>
            </a:r>
            <a:endParaRPr sz="3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20"/>
          <p:cNvSpPr txBox="1"/>
          <p:nvPr/>
        </p:nvSpPr>
        <p:spPr>
          <a:xfrm>
            <a:off x="8952625" y="369438"/>
            <a:ext cx="10912500" cy="104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José da Silva é um pedreiro experiente de 45 anos, com mais de duas décadas de atuação no mercado da construção civil. Seu perfil é marcado pela praticidade, pela preferência por métodos tradicionais e pela busca constante por produtos de qualidade e durabilidade.</a:t>
            </a:r>
            <a:endParaRPr sz="31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José é um profissional habilidoso e dedicado, que valoriza o bom relacionamento com seus clientes e fornecedores. Ele busca por produtos que facilitem seu trabalho e que sejam eficientes, priorizando marcas conhecidas e materiais de alta qualidade. A economia também é um fator importante para José, que sempre busca as melhores condições de pagamento e os preços mais competitivos.</a:t>
            </a:r>
            <a:endParaRPr sz="31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Como um profissional autônomo, José precisa ser eficiente e entregar os trabalhos no prazo. Ele valoriza a qualidade do atendimento e busca por lojas que ofereçam um bom estoque de produtos, facilitando assim a realização de suas compras.</a:t>
            </a:r>
            <a:r>
              <a:rPr lang="pt-BR" sz="2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2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546" name="Google Shape;546;p20"/>
          <p:cNvPicPr preferRelativeResize="0"/>
          <p:nvPr/>
        </p:nvPicPr>
        <p:blipFill rotWithShape="1">
          <a:blip r:embed="rId4">
            <a:alphaModFix/>
          </a:blip>
          <a:srcRect l="8983" r="13706"/>
          <a:stretch/>
        </p:blipFill>
        <p:spPr>
          <a:xfrm>
            <a:off x="1214575" y="3310013"/>
            <a:ext cx="6167398" cy="53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 extrusionOk="0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19266428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19528201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19789973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19266428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19528201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19789973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19266428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19528201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19789973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19266428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19528201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19789973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19266428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19528201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19789973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19266428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19528201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19789973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19266428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19528201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19789973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19266428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19528201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19789973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7" name="Google Shape;577;p21"/>
          <p:cNvGrpSpPr/>
          <p:nvPr/>
        </p:nvGrpSpPr>
        <p:grpSpPr>
          <a:xfrm>
            <a:off x="0" y="3806785"/>
            <a:ext cx="20104100" cy="7502186"/>
            <a:chOff x="0" y="3806785"/>
            <a:chExt cx="20104100" cy="7502186"/>
          </a:xfrm>
        </p:grpSpPr>
        <p:sp>
          <p:nvSpPr>
            <p:cNvPr id="578" name="Google Shape;578;p21"/>
            <p:cNvSpPr/>
            <p:nvPr/>
          </p:nvSpPr>
          <p:spPr>
            <a:xfrm>
              <a:off x="8795543" y="3806785"/>
              <a:ext cx="2094229" cy="0"/>
            </a:xfrm>
            <a:custGeom>
              <a:avLst/>
              <a:gdLst/>
              <a:ahLst/>
              <a:cxnLst/>
              <a:rect l="l" t="t" r="r" b="b"/>
              <a:pathLst>
                <a:path w="2094229" h="120000" extrusionOk="0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noFill/>
            <a:ln w="31400" cap="flat" cmpd="sng">
              <a:solidFill>
                <a:srgbClr val="C127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 extrusionOk="0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 extrusionOk="0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1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21"/>
          <p:cNvSpPr txBox="1">
            <a:spLocks noGrp="1"/>
          </p:cNvSpPr>
          <p:nvPr>
            <p:ph type="title"/>
          </p:nvPr>
        </p:nvSpPr>
        <p:spPr>
          <a:xfrm>
            <a:off x="10877020" y="1938344"/>
            <a:ext cx="5470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/>
              <a:t>DUIS AUTE </a:t>
            </a:r>
            <a:r>
              <a:rPr lang="pt-BR" sz="4700" b="1">
                <a:latin typeface="Montserrat ExtraBold"/>
                <a:ea typeface="Montserrat ExtraBold"/>
                <a:cs typeface="Montserrat ExtraBold"/>
                <a:sym typeface="Montserrat ExtraBold"/>
              </a:rPr>
              <a:t>IRURE</a:t>
            </a:r>
            <a:endParaRPr sz="4700" b="1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82" name="Google Shape;5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731878" cy="1115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21"/>
          <p:cNvGrpSpPr/>
          <p:nvPr/>
        </p:nvGrpSpPr>
        <p:grpSpPr>
          <a:xfrm>
            <a:off x="9004966" y="262172"/>
            <a:ext cx="10785012" cy="10785012"/>
            <a:chOff x="9057316" y="261772"/>
            <a:chExt cx="10785012" cy="10785012"/>
          </a:xfrm>
        </p:grpSpPr>
        <p:pic>
          <p:nvPicPr>
            <p:cNvPr id="584" name="Google Shape;584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57316" y="261772"/>
              <a:ext cx="10785012" cy="10785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21"/>
            <p:cNvSpPr/>
            <p:nvPr/>
          </p:nvSpPr>
          <p:spPr>
            <a:xfrm>
              <a:off x="9842632" y="1047088"/>
              <a:ext cx="9214485" cy="9214485"/>
            </a:xfrm>
            <a:custGeom>
              <a:avLst/>
              <a:gdLst/>
              <a:ahLst/>
              <a:cxnLst/>
              <a:rect l="l" t="t" r="r" b="b"/>
              <a:pathLst>
                <a:path w="9214485" h="9214485" extrusionOk="0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21"/>
          <p:cNvSpPr txBox="1"/>
          <p:nvPr/>
        </p:nvSpPr>
        <p:spPr>
          <a:xfrm>
            <a:off x="10877029" y="1601550"/>
            <a:ext cx="5851800" cy="1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AGORA É</a:t>
            </a:r>
            <a:r>
              <a:rPr lang="pt-BR" sz="5800" b="1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COM VOCÊ!</a:t>
            </a:r>
            <a:endParaRPr sz="5800" b="1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10347125" y="4572000"/>
            <a:ext cx="8335800" cy="49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3750">
                <a:solidFill>
                  <a:srgbClr val="4D4D4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Escolha um produto ou serviço.</a:t>
            </a:r>
            <a:endParaRPr sz="3750">
              <a:solidFill>
                <a:srgbClr val="4D4D4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3750">
                <a:solidFill>
                  <a:srgbClr val="4D4D4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Utilize sua IA preferida de geração de texto, para gerar ideias de pelo menos 5 personas.</a:t>
            </a:r>
            <a:endParaRPr sz="3750">
              <a:solidFill>
                <a:srgbClr val="4D4D4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3750">
                <a:solidFill>
                  <a:srgbClr val="4D4D4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Anexe nessa atividade os prompts que usou.</a:t>
            </a:r>
            <a:endParaRPr sz="3750">
              <a:solidFill>
                <a:srgbClr val="4D4D4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22"/>
          <p:cNvGrpSpPr/>
          <p:nvPr/>
        </p:nvGrpSpPr>
        <p:grpSpPr>
          <a:xfrm>
            <a:off x="0" y="773723"/>
            <a:ext cx="20104100" cy="11308556"/>
            <a:chOff x="0" y="0"/>
            <a:chExt cx="20104100" cy="11308556"/>
          </a:xfrm>
        </p:grpSpPr>
        <p:pic>
          <p:nvPicPr>
            <p:cNvPr id="593" name="Google Shape;593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20104100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22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 extrusionOk="0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 extrusionOk="0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 extrusionOk="0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 extrusionOk="0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 extrusionOk="0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 extrusionOk="0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 extrusionOk="0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 extrusionOk="0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 extrusionOk="0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 extrusionOk="0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 extrusionOk="0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 extrusionOk="0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 extrusionOk="0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 extrusionOk="0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 extrusionOk="0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 extrusionOk="0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22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5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FFFFF"/>
                </a:solidFill>
              </a:rPr>
              <a:t>SENAI</a:t>
            </a:r>
            <a:endParaRPr sz="2800"/>
          </a:p>
        </p:txBody>
      </p:sp>
      <p:sp>
        <p:nvSpPr>
          <p:cNvPr id="597" name="Google Shape;597;p22"/>
          <p:cNvSpPr txBox="1"/>
          <p:nvPr/>
        </p:nvSpPr>
        <p:spPr>
          <a:xfrm>
            <a:off x="10052050" y="5107290"/>
            <a:ext cx="7153251" cy="1753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6510" marR="0" lvl="0" indent="0" algn="l" rtl="0">
              <a:lnSpc>
                <a:spcPct val="116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PAULO ANTONIO SKAF</a:t>
            </a:r>
            <a:endParaRPr sz="2800" b="1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12700" marR="0" lvl="0" indent="0" algn="l" rtl="0">
              <a:lnSpc>
                <a:spcPct val="1186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750" u="sng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www.sp.senai.br</a:t>
            </a:r>
            <a:endParaRPr sz="67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98" name="Google Shape;598;p22"/>
          <p:cNvGrpSpPr/>
          <p:nvPr/>
        </p:nvGrpSpPr>
        <p:grpSpPr>
          <a:xfrm>
            <a:off x="0" y="4154076"/>
            <a:ext cx="20104100" cy="7154896"/>
            <a:chOff x="0" y="4154076"/>
            <a:chExt cx="20104100" cy="7154896"/>
          </a:xfrm>
        </p:grpSpPr>
        <p:sp>
          <p:nvSpPr>
            <p:cNvPr id="599" name="Google Shape;599;p22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w="120000" h="3001009" extrusionOk="0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noFill/>
            <a:ln w="278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760</Words>
  <Application>Microsoft Macintosh PowerPoint</Application>
  <PresentationFormat>Personalizar</PresentationFormat>
  <Paragraphs>32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Montserrat Light</vt:lpstr>
      <vt:lpstr>Montserrat</vt:lpstr>
      <vt:lpstr>Montserrat ExtraBold</vt:lpstr>
      <vt:lpstr>Arial</vt:lpstr>
      <vt:lpstr>Calibri</vt:lpstr>
      <vt:lpstr>Office Theme</vt:lpstr>
      <vt:lpstr>Office Theme</vt:lpstr>
      <vt:lpstr>Apresentação do PowerPoint</vt:lpstr>
      <vt:lpstr>PROTO-PERSONAS</vt:lpstr>
      <vt:lpstr>PÚBLICO-ALVO X PROTO-PERSONA</vt:lpstr>
      <vt:lpstr>PROTO-PERSONA</vt:lpstr>
      <vt:lpstr>Apresentação do PowerPoint</vt:lpstr>
      <vt:lpstr>Apresentação do PowerPoint</vt:lpstr>
      <vt:lpstr>Apresentação do PowerPoint</vt:lpstr>
      <vt:lpstr>DUIS AUTE IRURE</vt:lpstr>
      <vt:lpstr>SENAI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Ribeiro de Lacerda</cp:lastModifiedBy>
  <cp:revision>2</cp:revision>
  <dcterms:modified xsi:type="dcterms:W3CDTF">2026-05-22T20:42:10Z</dcterms:modified>
</cp:coreProperties>
</file>